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A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62" autoAdjust="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143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22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01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05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98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57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99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2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34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79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82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5FF27-5B7F-4CD8-A42A-A3E16939D6B0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7B271-92DA-4CE4-9150-A484FCC0A8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17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png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18142" y="305107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ХАЙТЕК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0325" y="1043195"/>
            <a:ext cx="7383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Компетенция </a:t>
            </a:r>
          </a:p>
          <a:p>
            <a:pPr algn="ctr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«Корпоративная защита от внутренних угроз информационной безопасности»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6692" y="2565133"/>
            <a:ext cx="723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Arial" panose="020B0604020202020204" pitchFamily="34" charset="0"/>
                <a:ea typeface="PT Astra Serif" panose="020A0603040505020204" pitchFamily="18" charset="-52"/>
                <a:cs typeface="Arial" panose="020B0604020202020204" pitchFamily="34" charset="0"/>
              </a:rPr>
              <a:t>Отчет о проделанной работе в организации ООО «</a:t>
            </a:r>
            <a:r>
              <a:rPr lang="ru-RU" dirty="0" err="1" smtClean="0">
                <a:latin typeface="Arial" panose="020B0604020202020204" pitchFamily="34" charset="0"/>
                <a:ea typeface="PT Astra Serif" panose="020A0603040505020204" pitchFamily="18" charset="-52"/>
                <a:cs typeface="Arial" panose="020B0604020202020204" pitchFamily="34" charset="0"/>
              </a:rPr>
              <a:t>ФесМедСнаб</a:t>
            </a:r>
            <a:r>
              <a:rPr lang="ru-RU" dirty="0" smtClean="0">
                <a:latin typeface="Arial" panose="020B0604020202020204" pitchFamily="34" charset="0"/>
                <a:ea typeface="PT Astra Serif" panose="020A0603040505020204" pitchFamily="18" charset="-52"/>
                <a:cs typeface="Arial" panose="020B0604020202020204" pitchFamily="34" charset="0"/>
              </a:rPr>
              <a:t>»</a:t>
            </a:r>
            <a:endParaRPr lang="ru-RU" dirty="0">
              <a:latin typeface="Arial" panose="020B0604020202020204" pitchFamily="34" charset="0"/>
              <a:ea typeface="PT Astra Serif" panose="020A0603040505020204" pitchFamily="18" charset="-52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06184" y="3720448"/>
            <a:ext cx="30555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Команда 1 – ГК «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Росатом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Участники: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Николаев М.А.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Сверлов Е.Д.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Эксперт: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Борзов Д.А.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4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4968" y="1235849"/>
            <a:ext cx="1133480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ООО «</a:t>
            </a:r>
            <a:r>
              <a:rPr lang="ru-RU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ФесМедСнаб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» - компания, специализирующаяся на производстве и облуживании медицинского оборудования для лечебно-профилактических учреждений.</a:t>
            </a:r>
          </a:p>
          <a:p>
            <a:pPr algn="just"/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Штат насчитывает 680 сотрудников организации.</a:t>
            </a:r>
          </a:p>
          <a:p>
            <a:pPr algn="just"/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Единовременно в информационных системах организации хранятся сведения 36 000 субъектов персональных данных.</a:t>
            </a: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Общие сведения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6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Предпроектное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обследование (1/2)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968" y="814934"/>
            <a:ext cx="11334804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Установлено: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 системах Организации одновременно хранятся и обрабатываются иные, биометрические и специальные категории персональных данных (</a:t>
            </a:r>
            <a:r>
              <a:rPr lang="ru-RU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ПДн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), а также информация, составляющая коммерческую тайну (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КТ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В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системах реализуется многопользовательский уровень доступа к информации, с разделением уровня доступа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пользователей.</a:t>
            </a:r>
          </a:p>
          <a:p>
            <a:pPr algn="just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Объем обрабатываемых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ПДн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менее 100 000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субъектов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ПДн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Для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 и АРМ пользователей используется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ОС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Microsoft Windows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что согласно положениям Постановления правительства №1119 относится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к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 типу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угроз.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Решено:</a:t>
            </a: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Система признана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ИСПДн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для которой необходимо обеспечить выполнение требований по защите информации, соответствующих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 УЗ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ПДн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Для системы, в соответствии с положениями РД АС, необходимо установить класс защищенности от несанкционированного доступа –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8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Предпроектное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обследование (2/2)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968" y="916534"/>
            <a:ext cx="1133480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становлено:</a:t>
            </a:r>
          </a:p>
          <a:p>
            <a:pPr algn="just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Организация ООО «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ФесМедСнаб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» не попадает под действия 187-ФЗ, как субъект КИИ, т.к. нарушение безопасности инфраструктуры организации не влечет за собой рисков, соответствующих Постановлению Правительства № 127.</a:t>
            </a:r>
          </a:p>
          <a:p>
            <a:pPr algn="just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Для организации отсутствует приказ о формирований со стороны представителей органов государственной власти. Система не реализуется функции межведомственного взаимодействия, не обеспечивает работоспособность иных ГИС.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Решено: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ru-RU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Для информационных систем ООО «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ФедМедСнаб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» не требуется проводить работы по категорированию (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не субъект КИИ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	Организация и ее системы не обладают признаками, по которым они могут быть признаны государственными информационными системами (</a:t>
            </a:r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не является ГИС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6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9486" y="217714"/>
            <a:ext cx="8939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Изначальная схема организации </a:t>
            </a:r>
            <a:r>
              <a:rPr lang="ru-RU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ООО«ФесМедСнаб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» 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100117"/>
              </p:ext>
            </p:extLst>
          </p:nvPr>
        </p:nvGraphicFramePr>
        <p:xfrm>
          <a:off x="1020989" y="1123042"/>
          <a:ext cx="10394256" cy="4885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Visio" r:id="rId3" imgW="7527240" imgH="3538080" progId="Visio.Drawing.15">
                  <p:embed/>
                </p:oleObj>
              </mc:Choice>
              <mc:Fallback>
                <p:oleObj name="Visio" r:id="rId3" imgW="7527240" imgH="353808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0989" y="1123042"/>
                        <a:ext cx="10394256" cy="4885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2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Выявленные проблемы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организационной части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968" y="1163277"/>
            <a:ext cx="113348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Отсутствуют основанные порядки, связанные с регламентацией процедур по работе с защищаемой информацией и ИТ-инфраструктурой.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Отсутствуют регламенты использования мобильных технических средств (удаленные АРМы).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Отсутствует регламенты направленные на управление уязвимостями, реагирование на события и инциденты безопасности.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Штатная структура не предполагает наличие специализированного отдела, отвечающего за обеспечение защиты информации, защиты персональных данных, а также в штатной структуре не выделен отдел ИБ.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Не распределена ответственность и не назначены ответственные лица.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Работа администраторов, имеющих привилегированный доступ не регламентирована.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Выявленные проблемы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технической части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968" y="1003620"/>
            <a:ext cx="10739718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Отсутствуют средства антивирусной защиты;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Отсутствует централизованное управление политик ими безопасности;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Не осуществляется контроль перемещения конфиденциальной информации;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Отсутствуют средства централизованного мониторинга событий безопасности;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 инфраструктуре используется 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импротозависимое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системное программное обеспечение, программные продукты с открытым исходным кодом;</a:t>
            </a:r>
          </a:p>
          <a:p>
            <a:pPr algn="just"/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Не реализована сегментация сети организации;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Разграничение доступа к защищаемой информации не реализовано;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Пользователи сети интернет имеют открытый доступ к локальным ИС, обрабатывающим конфиденциальную информацию;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Доступ в интернет не контролируется.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2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5255" y="231237"/>
            <a:ext cx="8612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Предложенные организационные мероприятия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7539" y="1134249"/>
            <a:ext cx="107397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Назначить ответственных лиц, как в части обеспечения защиты информации, персональных данных, так и по программным средствам защиты информации – администраторов безопасности.</a:t>
            </a:r>
          </a:p>
          <a:p>
            <a:pPr algn="just"/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Организовать периодически проведение тренингов, имитаций и обучения для пользователей и администраторов организации, с целью повышения осведомленности в вопросах безопасности.</a:t>
            </a:r>
          </a:p>
          <a:p>
            <a:pPr algn="just"/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Реализовать аудиторские и контролирующие мероприятия в части использования мобильных технических средств.</a:t>
            </a:r>
          </a:p>
          <a:p>
            <a:pPr algn="just"/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Утвердить и внедрить практики, посредством создания и утверждения порядков, регламентов и инструкций в части работы с информацией, информационными ресурсами, включающие процессы их использования и уничтожения\ограничения.</a:t>
            </a:r>
          </a:p>
          <a:p>
            <a:pPr algn="just"/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Утвердить планы реализующие процессы аварийного восстановления работоспособности систем и поддержки целевого уровня доступности (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SLA)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Реализованные технические мероприятия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3353" y="1320286"/>
            <a:ext cx="107397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Произведена сегментация сети на сегменты: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– серверный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Users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– пользовательский,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DMZ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Произведена замена МСЭ на базе открытого исходного кода на встроенный в СКЗИ 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VipNet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Coordinator HW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становлено и настроено защищенное соединение с удаленными клиентами 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VipNet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Установлено и настроено средство антивирусной защиты в единым СУ и агентами 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Kasprsky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Security Center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Установлено и настроено средство анализа защищенности 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RedCheck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Произведен переход на отечественную операционную систему –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Astra Linux 1.7.5/1.7.7.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Произведен полный переход на домен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ALD PRO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 миграцией пользователей из домена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 и настроен программный комплекс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InfoWatch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Traffic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onitor, Device Monitor, Data Discovery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Установлено средство защиты почтового клиента –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KSMG.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Установлено и настроено средство мониторинга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siem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KUMA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Подготовлена инфраструктура под настройку средства контроля привилегированных пользователей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– Indeed PAM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(сделано временное решение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Вопросы обозначенные заказчиком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(1/2)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1735" y="899765"/>
            <a:ext cx="107397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Установлено:</a:t>
            </a: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Не окончен процесс перехода с домена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 домен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ALD PRO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 что создает трудности администрирования.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Вычислительная сеть Организации не сегментирована, что создает проблемы с возникновением широковещательных штормов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Сервер файлового хранилища реализован на базе ОС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 неограниченным доступом к ресурсам системы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Решение: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Выполнен полный переход на домен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ALD PRO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 с миграцией пользователей.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Проведены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работы по сегментации сети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office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серверная,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Users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пользовательская,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DMZ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доступ в Интернет (терминальная ферма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Файловое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хранилище реализовано встроенными ролями серверов домена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на хосте с ОС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Astra Linux SE 1.7.7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реализована матрица доступа к ресурсам по отделам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6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Вопросы обозначенные заказчиком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(2/2)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6567" y="974592"/>
            <a:ext cx="1073971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Установлено:</a:t>
            </a:r>
          </a:p>
          <a:p>
            <a:pPr algn="just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Ограничение использования графических редакторов на пользовательских АРМ.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Ограничение доступа к веб-почте, мессенджерам (с сохранением доступа к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dzen.ru, vk.com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для отдела маркетинга).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Сохранение доступа до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postfix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и СЭД для удаленного клиента.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Выдача УЗ для доступа в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SIEM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сотрудника службы безопасности и групп службы безопасности.</a:t>
            </a: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Решение:</a:t>
            </a:r>
          </a:p>
          <a:p>
            <a:pPr algn="just"/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Графические редакторы отключены для пользователей на уровне ОС.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Реализован сервер терминального интернета, доступ до ресурсов ограничен механизмами ОС.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Реализовано с помощью СКЗИ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VipNet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Coordinator HW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Заведены локальные УЗ для работников отдела службы безопасности. 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4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Итоговая схема по результатам работ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263379"/>
              </p:ext>
            </p:extLst>
          </p:nvPr>
        </p:nvGraphicFramePr>
        <p:xfrm>
          <a:off x="1722438" y="919163"/>
          <a:ext cx="9140825" cy="556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Visio" r:id="rId3" imgW="8642880" imgH="5263560" progId="Visio.Drawing.15">
                  <p:embed/>
                </p:oleObj>
              </mc:Choice>
              <mc:Fallback>
                <p:oleObj name="Visio" r:id="rId3" imgW="8642880" imgH="526356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2438" y="919163"/>
                        <a:ext cx="9140825" cy="556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9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00462" y="188686"/>
            <a:ext cx="7383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Дорожная карта развития ИБ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6567" y="974592"/>
            <a:ext cx="1073971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Разработать и утвердить предложенные документы, для повышения уровня защищенности в организационных аспектах.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Внедрить централизованное решения по управлению мобильными техническим средствами (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MDM)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По условиям технического сопровождения получить лицензии и развернуть требуемую конфигурацию решения по контролю привилегированных пользователей (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PAM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), для замены временного решения.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Произвести замену почтового сервера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Postfix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на готовое, сертифицированное решение.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Разделить функционал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криптошлюза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Vipnet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и МСЭ, путем внедрения отдельной инсталляции МСЭ.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Развернуть дополнительную зону тестирования (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test)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проверки обновления конфигураций, а также проверки файлов обновлений для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СрЗИ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Внедрить централизованное решение для резервного копирования ресурсов ИС, с целью повышения отказоустойчивости и реализации авариного восстановления.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4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-187890" y="-225468"/>
            <a:ext cx="12738969" cy="7352778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18142" y="305107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ХАЙТЕК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0325" y="1043195"/>
            <a:ext cx="7383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Компетенция </a:t>
            </a:r>
          </a:p>
          <a:p>
            <a:pPr algn="ctr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«Корпоративная защита от внутренних угроз информационной безопасности»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46692" y="2565133"/>
            <a:ext cx="723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Отчет о проделанной работе в организации ООО «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ФесМедСнаб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06184" y="3720448"/>
            <a:ext cx="30555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Команда 1 – ГК «</a:t>
            </a:r>
            <a:r>
              <a:rPr lang="ru-RU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Росатом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Участники: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Николаев М.А.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Сверлов Е.Д.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Эксперт: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Борзов Д.А.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134" y="162872"/>
            <a:ext cx="687546" cy="8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6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785</Words>
  <Application>Microsoft Office PowerPoint</Application>
  <PresentationFormat>Широкоэкранный</PresentationFormat>
  <Paragraphs>163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PT Astra Serif</vt:lpstr>
      <vt:lpstr>Тема Office</vt:lpstr>
      <vt:lpstr>Visio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team1-1</dc:creator>
  <cp:lastModifiedBy>Пользователь Windows</cp:lastModifiedBy>
  <cp:revision>61</cp:revision>
  <dcterms:created xsi:type="dcterms:W3CDTF">2025-11-12T12:13:35Z</dcterms:created>
  <dcterms:modified xsi:type="dcterms:W3CDTF">2025-11-12T20:07:34Z</dcterms:modified>
</cp:coreProperties>
</file>