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59" r:id="rId7"/>
    <p:sldId id="260" r:id="rId8"/>
    <p:sldId id="274" r:id="rId9"/>
    <p:sldId id="273" r:id="rId10"/>
    <p:sldId id="261" r:id="rId11"/>
    <p:sldId id="262" r:id="rId12"/>
    <p:sldId id="263" r:id="rId13"/>
    <p:sldId id="264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89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26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08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64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57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72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19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4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39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E26CF-D555-4241-8F50-56CF279B110F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E80CB-C5B8-47BF-BA8A-3FBBF36FE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56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9876" y="483325"/>
            <a:ext cx="72368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AtomSkills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Компетенция «Корпоративная защита от внутренних угроз информационной безопасности»</a:t>
            </a:r>
          </a:p>
          <a:p>
            <a:pPr algn="ctr"/>
            <a:endParaRPr lang="ru-RU" dirty="0"/>
          </a:p>
        </p:txBody>
      </p:sp>
      <p:sp>
        <p:nvSpPr>
          <p:cNvPr id="3" name="Овал 2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085738" y="2654300"/>
            <a:ext cx="5585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проделанной работе в организации ООО «АТП Север»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0836" y="3871168"/>
            <a:ext cx="35211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7 «ГАМСК»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АО «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Гринатом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Москва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Николаев М.А.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Сверлов Е.Д.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Эксперт: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Садыкова Е.В.</a:t>
            </a:r>
          </a:p>
        </p:txBody>
      </p:sp>
    </p:spTree>
    <p:extLst>
      <p:ext uri="{BB962C8B-B14F-4D97-AF65-F5344CB8AC3E}">
        <p14:creationId xmlns:p14="http://schemas.microsoft.com/office/powerpoint/2010/main" val="335428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7600" y="1219200"/>
            <a:ext cx="9956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ООО «АТП Север» - предприятие административного центра Архангельской области, осуществляющее деятельность по обеспечению муниципалитета сухопутным пассажирским транспортом. Является обществом с ограниченной ответственностью.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Штат насчитывает 912 сотрудников.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Ежегодная прибыль организации ежегодно растет на 2%, что составляет порядка 1.2 млн. рублей.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4043418" y="292100"/>
            <a:ext cx="4105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об организации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28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3222" y="187565"/>
            <a:ext cx="6920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Предпроектное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обследование представленной (1/3)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206500" y="1003300"/>
            <a:ext cx="9779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Установлено: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 системах ООО «АТП Север» проводится одновременная обработка информации, составляющие общедоступные, иные и биометрические категории персональных данных (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ПДн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не сотрудников оператора, а также информацию, составляющую сведения, отнесенные к коммерческой тайне (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ООО «АТП Север» реализуют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многопользовательский доступ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 защищаемой информации,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разграничение уровня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доступа к ней.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ООО «АТП Север» совокупно хранят и обрабатывают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менее 100 000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ПДн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операционных систем (ОС), в организации применяются ОС семейства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Windows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влекущие наличие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недекларированных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возможностей в системном ПО, что соответствует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типу угроз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Решено: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систем ООО «АТП Север» необходимо обеспечить реализацию мер по защите персональных данных с соответствии с положениями Постановления Правительства РФ №1119 по 1 уровню защищённости персональных данных (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1УЗ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ПДн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при их обработке. Присвоить класс защищенности от НСД в соответствии с РД АС –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113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3222" y="187565"/>
            <a:ext cx="6920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Предпроектное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обследование представленной (2/3)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206500" y="1003300"/>
            <a:ext cx="9779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Установлено: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Ввиду осуществления ООО «АТП Север» деятельности по транспортного пассажиропотока, организация является субъектом критической информационной инфраструктуре (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 КИИ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Сделано: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проведены работы по категорированию ресурсов организации как объектов КИИ.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условий функционирования ИТ-инфраструктуры и организации в целом, принято решении об отсутствии необходимости присвоения какой либо категории ЗОКИИ.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ИТ-инфраструктура ООО «АТП Север» признана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незначимым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объектом КИИ.</a:t>
            </a:r>
          </a:p>
          <a:p>
            <a:pPr algn="just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579489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3222" y="187565"/>
            <a:ext cx="6920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Предпроектное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обследование представленной (3/3)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206500" y="1003300"/>
            <a:ext cx="9779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Установлено: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Что в рамках ИТ-инфраструктуры организации не реализуется межведомственное взаимодействие. Со стороны федеральных и региональных органов государственной власти не издавался приказ о создании организации и\или ИТ-инфраструктуры с целью выполнения функции органов государственной власти.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Решено: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и ИТ-инфраструктура не обладают признаками, по которым система может быть отнесена к государственным информационным системам (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является ГИС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71556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3975" y="101600"/>
            <a:ext cx="7064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Исходное состояние сети ООО «АТП Север»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550385"/>
              </p:ext>
            </p:extLst>
          </p:nvPr>
        </p:nvGraphicFramePr>
        <p:xfrm>
          <a:off x="2298341" y="905786"/>
          <a:ext cx="7506059" cy="555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Visio" r:id="rId3" imgW="9144000" imgH="6772391" progId="Visio.Drawing.15">
                  <p:embed/>
                </p:oleObj>
              </mc:Choice>
              <mc:Fallback>
                <p:oleObj name="Visio" r:id="rId3" imgW="9144000" imgH="677239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8341" y="905786"/>
                        <a:ext cx="7506059" cy="555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Овал 7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09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5843" y="381000"/>
            <a:ext cx="7700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проблемы в организационной части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17600" y="1320800"/>
            <a:ext cx="9486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основные порядки, связанные с регламентацией процедур по работе с защищаемой информацией, ИТ-инфраструктурой.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регламенты использования мобильных технических средств.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регламенты направление на управление уязвимостями, реагированием на события и инциденты безопасности.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штатной структуре организации не реализовано распределение отделов\подразделений в части ИТ и ИБ.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закреплена ответственность и не назначены ответственные.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регламентированы порядки работы администраторов.</a:t>
            </a:r>
          </a:p>
        </p:txBody>
      </p:sp>
    </p:spTree>
    <p:extLst>
      <p:ext uri="{BB962C8B-B14F-4D97-AF65-F5344CB8AC3E}">
        <p14:creationId xmlns:p14="http://schemas.microsoft.com/office/powerpoint/2010/main" val="1549377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5843" y="381000"/>
            <a:ext cx="70306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проблемы в технической части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17600" y="1320800"/>
            <a:ext cx="9486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средства антивирусной защиты;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Отсутствует централизованное управление политиками безопасности;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осуществляется контроль перемещения конфиденциальной информации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Отсутствует средства централизованного мониторинга событий безопасности;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инфраструктуре применяются средства с открытым исходным кодом, зарубежные средства.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реализована сегментация сети организации.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Слабая реализация разграничения доступа к защищаемой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3041437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842" y="292100"/>
            <a:ext cx="6582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Реализованные технические мероприятия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117600" y="1219200"/>
            <a:ext cx="98425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Произведена сегментация сети на сегменты: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DMZ, ARM, LAN(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серверный) –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pfSense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 и настроено средство антивирусной защиты 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Kaspersky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ndpoint Security for Linux;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 и настроено средство анализа защищенности –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RedCheck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Произведено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импортозамещение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типовых рабочих пользовательских станций и удаленных МТС 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Astra Linux 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1.7.6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на ответственный контроллер домена 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 и настроено средство защиты почтового трафика 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KSMG.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031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2523" y="314325"/>
            <a:ext cx="7366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Предложенные организационные мероприятия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87400" y="1308100"/>
            <a:ext cx="99060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Назначить ответственные лица, в части защиты информации организации, персональных данных, а также по техническому обеспечению.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Организовать проведение обучений, тренингов и имитаций для пользователей и администраторов, с целью повышения осведомленности в вопросах безопасности информации;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аудиторские и контролирующие мероприятия, которые направлены на контроль перемещаемой информации, МТС.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Утвердить и внедрить практики, посредством создания порядков, регламентов и инструкций в части работы как с информацией, так и с информационными ресурсами, включающие и процессы их уничтожения, ограничения.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Утвердить планы, направленные на описание процесса восстановления работоспособности систем и поддержания целевого уровня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88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8482" y="265093"/>
            <a:ext cx="71750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Предложенное решение вопросов, </a:t>
            </a:r>
          </a:p>
          <a:p>
            <a:pPr algn="ctr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обозначенных со стороны ООО «АТП Север»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231900" y="1219200"/>
            <a:ext cx="9728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Завершить процесс перехода с домена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на домен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ALD PRO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т.к. их параллельная работа создает трудности администрирования инфраструктуры.</a:t>
            </a: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Проведены работы по миграции данных из домена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домен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ALD PRO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Сохранена изначальная структура взаимосвязей пользователей и групп пользователей. Машины под ОС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Windows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выведены из инфраструктуры, что позволяет отключить домен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 startAt="2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сеть Организации не сегментирована, в результате чего серверное и пользовательское оборудование располагается в одной сети, что влечет проблемы связанные с широковещательными штормами.</a:t>
            </a:r>
          </a:p>
          <a:p>
            <a:pPr marL="342900" indent="-342900" algn="just">
              <a:buFont typeface="+mj-lt"/>
              <a:buAutoNum type="arabicPeriod" startAt="2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Проведены работы по сегментации вычислительной сети Организации. Для серверного сегмента сохранена изначальная сеть «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LAN-Office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», для пользовательского сегмента – «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LAN-ARM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», для предоставления контролируемого доступа в сеть Интернет – «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LAN-DMZ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2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0582" y="265093"/>
            <a:ext cx="70308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Обновленная схема сети, </a:t>
            </a:r>
          </a:p>
          <a:p>
            <a:pPr algn="ctr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реализации технических мероприятий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185680"/>
              </p:ext>
            </p:extLst>
          </p:nvPr>
        </p:nvGraphicFramePr>
        <p:xfrm>
          <a:off x="2309019" y="1219200"/>
          <a:ext cx="7573962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Visio" r:id="rId3" imgW="10039314" imgH="7181786" progId="Visio.Drawing.15">
                  <p:embed/>
                </p:oleObj>
              </mc:Choice>
              <mc:Fallback>
                <p:oleObj name="Visio" r:id="rId3" imgW="10039314" imgH="718178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9019" y="1219200"/>
                        <a:ext cx="7573962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8762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0750" y="403880"/>
            <a:ext cx="5175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 по развитию ИБ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77900" y="1308100"/>
            <a:ext cx="100965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утвердить предложенные документы, для перекрытия организационных вопросов безопасности;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защищённый канал передачи данных от АТС до сети Организации;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централизованное управление МТС для работы с защищаемой информацией с удаленных рабочих мест – «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WordsPad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Астра.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работы по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импортозамещению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межсетевых экранов на базе открытого исходного кода –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pfSense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работы по внедрение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SIEM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–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InfoWatch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TrafficMonitor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работы по внедрению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DLP – KUMA.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4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9876" y="483325"/>
            <a:ext cx="72368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AtomSkills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Компетенция «Корпоративная защита от внутренних угроз информационной безопасности»</a:t>
            </a:r>
          </a:p>
          <a:p>
            <a:pPr algn="ctr"/>
            <a:endParaRPr lang="ru-RU" dirty="0"/>
          </a:p>
        </p:txBody>
      </p:sp>
      <p:sp>
        <p:nvSpPr>
          <p:cNvPr id="3" name="Овал 2"/>
          <p:cNvSpPr/>
          <p:nvPr/>
        </p:nvSpPr>
        <p:spPr>
          <a:xfrm>
            <a:off x="-1117600" y="5740400"/>
            <a:ext cx="2235200" cy="2235200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11074400" y="5740400"/>
            <a:ext cx="2235200" cy="2235200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1074400" y="-1016000"/>
            <a:ext cx="2235200" cy="223520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-1117600" y="-1016000"/>
            <a:ext cx="2235200" cy="2235200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085738" y="2654300"/>
            <a:ext cx="5585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проделанной работе в организации ООО «АТП Север»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0836" y="3871168"/>
            <a:ext cx="35211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7 «ГАМСК»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АО «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Гринатом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Москва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Николаев М.А.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Сверлов Е.Д.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Эксперт: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Садыкова Е.В.</a:t>
            </a:r>
          </a:p>
        </p:txBody>
      </p:sp>
    </p:spTree>
    <p:extLst>
      <p:ext uri="{BB962C8B-B14F-4D97-AF65-F5344CB8AC3E}">
        <p14:creationId xmlns:p14="http://schemas.microsoft.com/office/powerpoint/2010/main" val="77327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538</Words>
  <Application>Microsoft Office PowerPoint</Application>
  <PresentationFormat>Широкоэкранный</PresentationFormat>
  <Paragraphs>115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Visio</vt:lpstr>
      <vt:lpstr>Документ Microsoft Visio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team-07-1</dc:creator>
  <cp:lastModifiedBy>team-07-1</cp:lastModifiedBy>
  <cp:revision>31</cp:revision>
  <dcterms:created xsi:type="dcterms:W3CDTF">2025-04-02T04:39:25Z</dcterms:created>
  <dcterms:modified xsi:type="dcterms:W3CDTF">2025-04-02T12:45:00Z</dcterms:modified>
</cp:coreProperties>
</file>